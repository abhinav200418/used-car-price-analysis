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1" r:id="rId1"/>
  </p:sldMasterIdLst>
  <p:sldIdLst>
    <p:sldId id="256" r:id="rId2"/>
    <p:sldId id="257" r:id="rId3"/>
    <p:sldId id="267" r:id="rId4"/>
    <p:sldId id="258" r:id="rId5"/>
    <p:sldId id="268" r:id="rId6"/>
    <p:sldId id="269" r:id="rId7"/>
    <p:sldId id="270" r:id="rId8"/>
    <p:sldId id="259" r:id="rId9"/>
    <p:sldId id="260" r:id="rId10"/>
    <p:sldId id="261"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153D54-C1CF-4B6F-B6C9-E250796068B2}"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2933738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1153D54-C1CF-4B6F-B6C9-E250796068B2}"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1023615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153D54-C1CF-4B6F-B6C9-E250796068B2}"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38535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153D54-C1CF-4B6F-B6C9-E250796068B2}"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780908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153D54-C1CF-4B6F-B6C9-E250796068B2}" type="datetimeFigureOut">
              <a:rPr lang="en-IN" smtClean="0"/>
              <a:t>06-02-2026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914610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1153D54-C1CF-4B6F-B6C9-E250796068B2}" type="datetimeFigureOut">
              <a:rPr lang="en-IN" smtClean="0"/>
              <a:t>06-02-2026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438139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1153D54-C1CF-4B6F-B6C9-E250796068B2}" type="datetimeFigureOut">
              <a:rPr lang="en-IN" smtClean="0"/>
              <a:t>06-02-2026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421091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1153D54-C1CF-4B6F-B6C9-E250796068B2}" type="datetimeFigureOut">
              <a:rPr lang="en-IN" smtClean="0"/>
              <a:t>06-02-2026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708845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153D54-C1CF-4B6F-B6C9-E250796068B2}"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627287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153D54-C1CF-4B6F-B6C9-E250796068B2}"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229425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1153D54-C1CF-4B6F-B6C9-E250796068B2}"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589399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1153D54-C1CF-4B6F-B6C9-E250796068B2}"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480250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153D54-C1CF-4B6F-B6C9-E250796068B2}"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1754096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1153D54-C1CF-4B6F-B6C9-E250796068B2}" type="datetimeFigureOut">
              <a:rPr lang="en-IN" smtClean="0"/>
              <a:t>06-02-2026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3418294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1153D54-C1CF-4B6F-B6C9-E250796068B2}" type="datetimeFigureOut">
              <a:rPr lang="en-IN" smtClean="0"/>
              <a:t>06-02-2026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1343615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153D54-C1CF-4B6F-B6C9-E250796068B2}"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1286914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153D54-C1CF-4B6F-B6C9-E250796068B2}"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8BB553-2F52-429D-9148-B8579FA667B0}" type="slidenum">
              <a:rPr lang="en-IN" smtClean="0"/>
              <a:t>‹#›</a:t>
            </a:fld>
            <a:endParaRPr lang="en-IN"/>
          </a:p>
        </p:txBody>
      </p:sp>
    </p:spTree>
    <p:extLst>
      <p:ext uri="{BB962C8B-B14F-4D97-AF65-F5344CB8AC3E}">
        <p14:creationId xmlns:p14="http://schemas.microsoft.com/office/powerpoint/2010/main" val="2758453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1153D54-C1CF-4B6F-B6C9-E250796068B2}" type="datetimeFigureOut">
              <a:rPr lang="en-IN" smtClean="0"/>
              <a:t>06-02-2026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28BB553-2F52-429D-9148-B8579FA667B0}" type="slidenum">
              <a:rPr lang="en-IN" smtClean="0"/>
              <a:t>‹#›</a:t>
            </a:fld>
            <a:endParaRPr lang="en-IN"/>
          </a:p>
        </p:txBody>
      </p:sp>
    </p:spTree>
    <p:extLst>
      <p:ext uri="{BB962C8B-B14F-4D97-AF65-F5344CB8AC3E}">
        <p14:creationId xmlns:p14="http://schemas.microsoft.com/office/powerpoint/2010/main" val="1600736562"/>
      </p:ext>
    </p:extLst>
  </p:cSld>
  <p:clrMap bg1="dk1" tx1="lt1" bg2="dk2" tx2="lt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6006F-4B96-DB56-6D04-0042E589851E}"/>
              </a:ext>
            </a:extLst>
          </p:cNvPr>
          <p:cNvSpPr>
            <a:spLocks noGrp="1"/>
          </p:cNvSpPr>
          <p:nvPr>
            <p:ph type="ctrTitle"/>
          </p:nvPr>
        </p:nvSpPr>
        <p:spPr>
          <a:xfrm>
            <a:off x="1575253" y="1183683"/>
            <a:ext cx="9041494" cy="1946787"/>
          </a:xfrm>
        </p:spPr>
        <p:txBody>
          <a:bodyPr>
            <a:normAutofit/>
          </a:bodyPr>
          <a:lstStyle/>
          <a:p>
            <a:pPr algn="ctr"/>
            <a:r>
              <a:rPr lang="en-US" sz="4000" b="1" dirty="0">
                <a:latin typeface="Cambria Math" panose="02040503050406030204" pitchFamily="18" charset="0"/>
                <a:ea typeface="Cambria Math" panose="02040503050406030204" pitchFamily="18" charset="0"/>
              </a:rPr>
              <a:t>USED CARS PRICE ANALYSIS</a:t>
            </a:r>
            <a:endParaRPr lang="en-IN" sz="4000" b="1" dirty="0">
              <a:solidFill>
                <a:schemeClr val="accent6">
                  <a:lumMod val="20000"/>
                  <a:lumOff val="80000"/>
                </a:schemeClr>
              </a:solidFill>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7734B42-2B00-BCEC-CA09-1F00DEBB99C9}"/>
              </a:ext>
            </a:extLst>
          </p:cNvPr>
          <p:cNvSpPr>
            <a:spLocks noGrp="1"/>
          </p:cNvSpPr>
          <p:nvPr>
            <p:ph type="subTitle" idx="1"/>
          </p:nvPr>
        </p:nvSpPr>
        <p:spPr>
          <a:xfrm>
            <a:off x="8072400" y="4951048"/>
            <a:ext cx="5088693" cy="1235148"/>
          </a:xfrm>
        </p:spPr>
        <p:txBody>
          <a:bodyPr>
            <a:normAutofit/>
          </a:bodyPr>
          <a:lstStyle/>
          <a:p>
            <a:r>
              <a:rPr lang="en-US" sz="2800" b="1" dirty="0">
                <a:solidFill>
                  <a:schemeClr val="accent6">
                    <a:lumMod val="20000"/>
                    <a:lumOff val="80000"/>
                  </a:schemeClr>
                </a:solidFill>
                <a:latin typeface="Cambria Math" panose="02040503050406030204" pitchFamily="18" charset="0"/>
                <a:ea typeface="Cambria Math" panose="02040503050406030204" pitchFamily="18" charset="0"/>
              </a:rPr>
              <a:t>Presented by </a:t>
            </a:r>
            <a:br>
              <a:rPr lang="en-US" sz="2800" b="1" dirty="0">
                <a:solidFill>
                  <a:schemeClr val="accent6">
                    <a:lumMod val="20000"/>
                    <a:lumOff val="80000"/>
                  </a:schemeClr>
                </a:solidFill>
                <a:latin typeface="Cambria Math" panose="02040503050406030204" pitchFamily="18" charset="0"/>
                <a:ea typeface="Cambria Math" panose="02040503050406030204" pitchFamily="18" charset="0"/>
              </a:rPr>
            </a:br>
            <a:r>
              <a:rPr lang="en-US" sz="2800" b="1" dirty="0">
                <a:solidFill>
                  <a:schemeClr val="accent6">
                    <a:lumMod val="20000"/>
                    <a:lumOff val="80000"/>
                  </a:schemeClr>
                </a:solidFill>
                <a:latin typeface="Cambria Math" panose="02040503050406030204" pitchFamily="18" charset="0"/>
                <a:ea typeface="Cambria Math" panose="02040503050406030204" pitchFamily="18" charset="0"/>
              </a:rPr>
              <a:t>t. Abhinav</a:t>
            </a:r>
            <a:endParaRPr lang="en-IN" sz="2800" b="1" dirty="0">
              <a:solidFill>
                <a:schemeClr val="accent6">
                  <a:lumMod val="20000"/>
                  <a:lumOff val="80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994180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09248D-4C5D-0C7E-C9FD-9111238EF2AC}"/>
              </a:ext>
            </a:extLst>
          </p:cNvPr>
          <p:cNvSpPr txBox="1"/>
          <p:nvPr/>
        </p:nvSpPr>
        <p:spPr>
          <a:xfrm>
            <a:off x="3765755" y="448854"/>
            <a:ext cx="4660490" cy="707886"/>
          </a:xfrm>
          <a:prstGeom prst="rect">
            <a:avLst/>
          </a:prstGeom>
          <a:noFill/>
        </p:spPr>
        <p:txBody>
          <a:bodyPr wrap="square" rtlCol="0">
            <a:spAutoFit/>
          </a:bodyPr>
          <a:lstStyle/>
          <a:p>
            <a:pPr algn="ctr"/>
            <a:r>
              <a:rPr lang="en-US" sz="4000" dirty="0">
                <a:latin typeface="Cambria Math" panose="02040503050406030204" pitchFamily="18" charset="0"/>
                <a:ea typeface="Cambria Math" panose="02040503050406030204" pitchFamily="18" charset="0"/>
              </a:rPr>
              <a:t> </a:t>
            </a:r>
            <a:r>
              <a:rPr lang="en-US" sz="4000" b="1" dirty="0">
                <a:latin typeface="Cambria Math" panose="02040503050406030204" pitchFamily="18" charset="0"/>
                <a:ea typeface="Cambria Math" panose="02040503050406030204" pitchFamily="18" charset="0"/>
              </a:rPr>
              <a:t>OVERVIEW</a:t>
            </a:r>
            <a:endParaRPr lang="en-IN" sz="4000" dirty="0">
              <a:latin typeface="Cambria Math" panose="02040503050406030204" pitchFamily="18" charset="0"/>
              <a:ea typeface="Cambria Math" panose="02040503050406030204" pitchFamily="18" charset="0"/>
            </a:endParaRPr>
          </a:p>
        </p:txBody>
      </p:sp>
      <p:sp>
        <p:nvSpPr>
          <p:cNvPr id="4" name="TextBox 3">
            <a:extLst>
              <a:ext uri="{FF2B5EF4-FFF2-40B4-BE49-F238E27FC236}">
                <a16:creationId xmlns:a16="http://schemas.microsoft.com/office/drawing/2014/main" id="{C6FB79D2-68BF-CDFC-1F35-4355AB113E90}"/>
              </a:ext>
            </a:extLst>
          </p:cNvPr>
          <p:cNvSpPr txBox="1"/>
          <p:nvPr/>
        </p:nvSpPr>
        <p:spPr>
          <a:xfrm>
            <a:off x="588982" y="1449455"/>
            <a:ext cx="11014036" cy="4959691"/>
          </a:xfrm>
          <a:prstGeom prst="rect">
            <a:avLst/>
          </a:prstGeom>
          <a:noFill/>
        </p:spPr>
        <p:txBody>
          <a:bodyPr wrap="square" rtlCol="0">
            <a:spAutoFit/>
          </a:bodyPr>
          <a:lstStyle/>
          <a:p>
            <a:pPr algn="just">
              <a:lnSpc>
                <a:spcPct val="150000"/>
              </a:lnSpc>
              <a:spcAft>
                <a:spcPts val="600"/>
              </a:spcAft>
            </a:pPr>
            <a:r>
              <a:rPr lang="en-US" sz="2000" dirty="0">
                <a:latin typeface="Cambria Math" panose="02040503050406030204" pitchFamily="18" charset="0"/>
                <a:ea typeface="Cambria Math" panose="02040503050406030204" pitchFamily="18" charset="0"/>
              </a:rPr>
              <a:t>The used car market in India has grown rapidly, offering an affordable alternative for consumers looking for high-quality vehicles at lower prices. Platforms like Cars24 provide a comprehensive listing of used cars, including various car companies, fuel types, and transmission systems. This project analyzes the variation in car prices across different factors to help consumers make better decisions when purchasing used cars. However, the price of used cars can vary significantly based on numerous factors such as: </a:t>
            </a:r>
          </a:p>
          <a:p>
            <a:pPr marL="285750" indent="-285750" algn="just">
              <a:lnSpc>
                <a:spcPct val="150000"/>
              </a:lnSpc>
              <a:spcAft>
                <a:spcPts val="600"/>
              </a:spcAft>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Company Name </a:t>
            </a:r>
          </a:p>
          <a:p>
            <a:pPr marL="285750" indent="-285750" algn="just">
              <a:lnSpc>
                <a:spcPct val="150000"/>
              </a:lnSpc>
              <a:spcAft>
                <a:spcPts val="600"/>
              </a:spcAft>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Fuel Type </a:t>
            </a:r>
          </a:p>
          <a:p>
            <a:pPr marL="285750" indent="-285750" algn="just">
              <a:lnSpc>
                <a:spcPct val="150000"/>
              </a:lnSpc>
              <a:spcAft>
                <a:spcPts val="600"/>
              </a:spcAft>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Distance Driven </a:t>
            </a:r>
          </a:p>
          <a:p>
            <a:pPr marL="285750" indent="-285750" algn="just">
              <a:lnSpc>
                <a:spcPct val="150000"/>
              </a:lnSpc>
              <a:spcAft>
                <a:spcPts val="600"/>
              </a:spcAft>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Prices</a:t>
            </a:r>
            <a:endParaRPr lang="en-IN" sz="2000" dirty="0">
              <a:solidFill>
                <a:schemeClr val="accent6">
                  <a:lumMod val="20000"/>
                  <a:lumOff val="80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835768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315245-137F-ADA0-4C8A-DE018B28E076}"/>
              </a:ext>
            </a:extLst>
          </p:cNvPr>
          <p:cNvSpPr txBox="1"/>
          <p:nvPr/>
        </p:nvSpPr>
        <p:spPr>
          <a:xfrm>
            <a:off x="3970175" y="494522"/>
            <a:ext cx="4198776" cy="707886"/>
          </a:xfrm>
          <a:prstGeom prst="rect">
            <a:avLst/>
          </a:prstGeom>
          <a:noFill/>
        </p:spPr>
        <p:txBody>
          <a:bodyPr wrap="square" rtlCol="0">
            <a:spAutoFit/>
          </a:bodyPr>
          <a:lstStyle/>
          <a:p>
            <a:pPr algn="ctr"/>
            <a:r>
              <a:rPr lang="en-US" sz="4000" b="1" dirty="0">
                <a:latin typeface="Cambria Math" panose="02040503050406030204" pitchFamily="18" charset="0"/>
                <a:ea typeface="Cambria Math" panose="02040503050406030204" pitchFamily="18" charset="0"/>
              </a:rPr>
              <a:t>OBJECTIVES</a:t>
            </a:r>
            <a:endParaRPr lang="en-IN" sz="4000" b="1" dirty="0">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6F14EBA8-9F88-9569-2CB8-A9C20D9F141E}"/>
              </a:ext>
            </a:extLst>
          </p:cNvPr>
          <p:cNvSpPr txBox="1"/>
          <p:nvPr/>
        </p:nvSpPr>
        <p:spPr>
          <a:xfrm>
            <a:off x="1287624" y="1884784"/>
            <a:ext cx="9563878" cy="2805255"/>
          </a:xfrm>
          <a:prstGeom prst="rect">
            <a:avLst/>
          </a:prstGeom>
          <a:noFill/>
        </p:spPr>
        <p:txBody>
          <a:bodyPr wrap="square" rtlCol="0">
            <a:spAutoFit/>
          </a:bodyPr>
          <a:lstStyle/>
          <a:p>
            <a:pPr algn="just">
              <a:lnSpc>
                <a:spcPct val="150000"/>
              </a:lnSpc>
            </a:pPr>
            <a:r>
              <a:rPr lang="en-US" sz="2000" dirty="0">
                <a:latin typeface="Cambria Math" panose="02040503050406030204" pitchFamily="18" charset="0"/>
                <a:ea typeface="Cambria Math" panose="02040503050406030204" pitchFamily="18" charset="0"/>
              </a:rPr>
              <a:t>The primary objectives of this project are: </a:t>
            </a:r>
          </a:p>
          <a:p>
            <a:pPr marL="342900" indent="-34290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To analyze car price variation across different companies in the used car market. </a:t>
            </a:r>
          </a:p>
          <a:p>
            <a:pPr marL="342900" indent="-34290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 To identify cars that provide good quality at a lower price (value-for-money cars).</a:t>
            </a:r>
          </a:p>
          <a:p>
            <a:pPr marL="342900" indent="-34290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To study the impact of factors such as car age, distance driven, fuel type and transmission on car prices. </a:t>
            </a:r>
          </a:p>
          <a:p>
            <a:pPr marL="342900" indent="-34290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To study the company wise car availability in each city.</a:t>
            </a:r>
            <a:endParaRPr lang="en-IN" sz="2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19106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BC5DCC-A412-6FC6-ACC1-1DEB2B8DCDFB}"/>
              </a:ext>
            </a:extLst>
          </p:cNvPr>
          <p:cNvSpPr txBox="1"/>
          <p:nvPr/>
        </p:nvSpPr>
        <p:spPr>
          <a:xfrm>
            <a:off x="3432811" y="477067"/>
            <a:ext cx="4928270" cy="1323439"/>
          </a:xfrm>
          <a:prstGeom prst="rect">
            <a:avLst/>
          </a:prstGeom>
          <a:noFill/>
        </p:spPr>
        <p:txBody>
          <a:bodyPr wrap="square" rtlCol="0">
            <a:spAutoFit/>
          </a:bodyPr>
          <a:lstStyle/>
          <a:p>
            <a:pPr algn="ctr"/>
            <a:r>
              <a:rPr lang="en-US" sz="4000" b="1" dirty="0">
                <a:solidFill>
                  <a:schemeClr val="accent6">
                    <a:lumMod val="20000"/>
                    <a:lumOff val="80000"/>
                  </a:schemeClr>
                </a:solidFill>
                <a:latin typeface="Cambria Math" panose="02040503050406030204" pitchFamily="18" charset="0"/>
                <a:ea typeface="Cambria Math" panose="02040503050406030204" pitchFamily="18" charset="0"/>
              </a:rPr>
              <a:t>METHODOLOGY</a:t>
            </a:r>
          </a:p>
          <a:p>
            <a:pPr algn="ctr"/>
            <a:endParaRPr lang="en-IN" sz="4000" b="1" dirty="0">
              <a:solidFill>
                <a:schemeClr val="accent6">
                  <a:lumMod val="20000"/>
                  <a:lumOff val="80000"/>
                </a:schemeClr>
              </a:solidFill>
              <a:latin typeface="Agency FB" panose="020B0503020202020204" pitchFamily="34" charset="0"/>
            </a:endParaRPr>
          </a:p>
        </p:txBody>
      </p:sp>
      <p:sp>
        <p:nvSpPr>
          <p:cNvPr id="3" name="TextBox 2">
            <a:extLst>
              <a:ext uri="{FF2B5EF4-FFF2-40B4-BE49-F238E27FC236}">
                <a16:creationId xmlns:a16="http://schemas.microsoft.com/office/drawing/2014/main" id="{8DF2C8C6-2B78-03DF-39DA-2EC67520EDDF}"/>
              </a:ext>
            </a:extLst>
          </p:cNvPr>
          <p:cNvSpPr txBox="1"/>
          <p:nvPr/>
        </p:nvSpPr>
        <p:spPr>
          <a:xfrm>
            <a:off x="445060" y="1365126"/>
            <a:ext cx="5451886" cy="4744247"/>
          </a:xfrm>
          <a:prstGeom prst="rect">
            <a:avLst/>
          </a:prstGeom>
          <a:noFill/>
        </p:spPr>
        <p:txBody>
          <a:bodyPr wrap="square" rtlCol="0">
            <a:spAutoFit/>
          </a:bodyPr>
          <a:lstStyle/>
          <a:p>
            <a:pPr algn="ctr">
              <a:lnSpc>
                <a:spcPct val="150000"/>
              </a:lnSpc>
            </a:pPr>
            <a:r>
              <a:rPr lang="en-IN" sz="2400" b="1" dirty="0">
                <a:latin typeface="Cambria Math" panose="02040503050406030204" pitchFamily="18" charset="0"/>
                <a:ea typeface="Cambria Math" panose="02040503050406030204" pitchFamily="18" charset="0"/>
                <a:cs typeface="Times New Roman" panose="02020603050405020304" pitchFamily="18" charset="0"/>
              </a:rPr>
              <a:t>DATA COLLECTION</a:t>
            </a:r>
          </a:p>
          <a:p>
            <a:pPr marL="342900" indent="-342900" algn="just">
              <a:lnSpc>
                <a:spcPct val="150000"/>
              </a:lnSpc>
              <a:buFont typeface="Wingdings" panose="05000000000000000000" pitchFamily="2" charset="2"/>
              <a:buChar char="Ø"/>
            </a:pPr>
            <a:r>
              <a:rPr lang="en-IN" sz="2000" dirty="0">
                <a:latin typeface="Cambria Math" panose="02040503050406030204" pitchFamily="18" charset="0"/>
                <a:ea typeface="Cambria Math" panose="02040503050406030204" pitchFamily="18" charset="0"/>
                <a:cs typeface="Times New Roman" panose="02020603050405020304" pitchFamily="18" charset="0"/>
              </a:rPr>
              <a:t>Utilized Python with Beautiful soup and selenium for web scrapping to gather detailed data on used car listings from Cars24 in different cities.</a:t>
            </a:r>
          </a:p>
          <a:p>
            <a:pPr marL="342900" indent="-342900" algn="just">
              <a:lnSpc>
                <a:spcPct val="150000"/>
              </a:lnSpc>
              <a:buFont typeface="Wingdings" panose="05000000000000000000" pitchFamily="2" charset="2"/>
              <a:buChar char="Ø"/>
            </a:pPr>
            <a:r>
              <a:rPr lang="en-IN" sz="2000" dirty="0">
                <a:latin typeface="Cambria Math" panose="02040503050406030204" pitchFamily="18" charset="0"/>
                <a:ea typeface="Cambria Math" panose="02040503050406030204" pitchFamily="18" charset="0"/>
                <a:cs typeface="Times New Roman" panose="02020603050405020304" pitchFamily="18" charset="0"/>
              </a:rPr>
              <a:t>Extracted key information including Company name, Year Of Manufacture, Fuel type, Distance Driven and Price.</a:t>
            </a:r>
          </a:p>
          <a:p>
            <a:pPr marL="342900" indent="-34290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Analyzed market trends and pricing patterns of used cars across different cities.</a:t>
            </a:r>
            <a:endParaRPr lang="en-IN" sz="2000" dirty="0">
              <a:latin typeface="Cambria Math" panose="02040503050406030204" pitchFamily="18" charset="0"/>
              <a:ea typeface="Cambria Math" panose="020405030504060302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33CEAAF-77A3-87ED-88C3-335BE1273AAD}"/>
              </a:ext>
            </a:extLst>
          </p:cNvPr>
          <p:cNvSpPr txBox="1"/>
          <p:nvPr/>
        </p:nvSpPr>
        <p:spPr>
          <a:xfrm>
            <a:off x="6295056" y="1557909"/>
            <a:ext cx="5312225" cy="4097917"/>
          </a:xfrm>
          <a:prstGeom prst="rect">
            <a:avLst/>
          </a:prstGeom>
          <a:noFill/>
        </p:spPr>
        <p:txBody>
          <a:bodyPr wrap="square" rtlCol="0">
            <a:spAutoFit/>
          </a:bodyPr>
          <a:lstStyle/>
          <a:p>
            <a:pPr algn="ctr"/>
            <a:r>
              <a:rPr lang="en-US" sz="2400" b="1" dirty="0">
                <a:latin typeface="Cambria Math" panose="02040503050406030204" pitchFamily="18" charset="0"/>
                <a:ea typeface="Cambria Math" panose="02040503050406030204" pitchFamily="18" charset="0"/>
              </a:rPr>
              <a:t>DATA CLEANING</a:t>
            </a:r>
            <a:endParaRPr lang="en-US" b="1" dirty="0">
              <a:latin typeface="Cambria Math" panose="02040503050406030204" pitchFamily="18" charset="0"/>
              <a:ea typeface="Cambria Math" panose="02040503050406030204" pitchFamily="18" charset="0"/>
            </a:endParaRPr>
          </a:p>
          <a:p>
            <a:pPr marL="285750" indent="-28575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After collecting the raw data, the next step is Data cleaning. The goal of this phase is to ensure the dataset is free from errors, missing values, and irrelevant information. </a:t>
            </a:r>
          </a:p>
          <a:p>
            <a:pPr marL="285750" indent="-28575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Removing the Duplicates and the Null Values. </a:t>
            </a:r>
          </a:p>
          <a:p>
            <a:pPr marL="285750" indent="-28575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Replacing the missing values with relevant placeholders.</a:t>
            </a:r>
          </a:p>
        </p:txBody>
      </p:sp>
    </p:spTree>
    <p:extLst>
      <p:ext uri="{BB962C8B-B14F-4D97-AF65-F5344CB8AC3E}">
        <p14:creationId xmlns:p14="http://schemas.microsoft.com/office/powerpoint/2010/main" val="2016803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8DD69F-900C-A988-4AF8-544864A3F835}"/>
              </a:ext>
            </a:extLst>
          </p:cNvPr>
          <p:cNvSpPr txBox="1"/>
          <p:nvPr/>
        </p:nvSpPr>
        <p:spPr>
          <a:xfrm>
            <a:off x="363895" y="1352939"/>
            <a:ext cx="5732105" cy="2989921"/>
          </a:xfrm>
          <a:prstGeom prst="rect">
            <a:avLst/>
          </a:prstGeom>
          <a:noFill/>
        </p:spPr>
        <p:txBody>
          <a:bodyPr wrap="square" rtlCol="0">
            <a:spAutoFit/>
          </a:bodyPr>
          <a:lstStyle/>
          <a:p>
            <a:pPr algn="ctr"/>
            <a:r>
              <a:rPr lang="en-US" sz="2400" b="1" dirty="0">
                <a:latin typeface="Cambria Math" panose="02040503050406030204" pitchFamily="18" charset="0"/>
                <a:ea typeface="Cambria Math" panose="02040503050406030204" pitchFamily="18" charset="0"/>
              </a:rPr>
              <a:t>DATA NORMALISATION</a:t>
            </a:r>
          </a:p>
          <a:p>
            <a:endParaRPr lang="en-US" dirty="0">
              <a:latin typeface="Cambria Math" panose="02040503050406030204" pitchFamily="18" charset="0"/>
              <a:ea typeface="Cambria Math" panose="02040503050406030204" pitchFamily="18" charset="0"/>
            </a:endParaRPr>
          </a:p>
          <a:p>
            <a:pPr algn="just">
              <a:lnSpc>
                <a:spcPct val="150000"/>
              </a:lnSpc>
            </a:pPr>
            <a:r>
              <a:rPr lang="en-US" sz="2000" dirty="0">
                <a:latin typeface="Cambria Math" panose="02040503050406030204" pitchFamily="18" charset="0"/>
                <a:ea typeface="Cambria Math" panose="02040503050406030204" pitchFamily="18" charset="0"/>
              </a:rPr>
              <a:t>Normalizing prices and other numeric fields to standard formats. For example, prices are converted to a uniform format (in lakhs), and also Distance Driven values are converted into the numerical fields. </a:t>
            </a:r>
          </a:p>
        </p:txBody>
      </p:sp>
      <p:sp>
        <p:nvSpPr>
          <p:cNvPr id="3" name="TextBox 2">
            <a:extLst>
              <a:ext uri="{FF2B5EF4-FFF2-40B4-BE49-F238E27FC236}">
                <a16:creationId xmlns:a16="http://schemas.microsoft.com/office/drawing/2014/main" id="{86D87F3D-983C-3039-8D5E-FCA40F1288A5}"/>
              </a:ext>
            </a:extLst>
          </p:cNvPr>
          <p:cNvSpPr txBox="1"/>
          <p:nvPr/>
        </p:nvSpPr>
        <p:spPr>
          <a:xfrm>
            <a:off x="6690047" y="1352939"/>
            <a:ext cx="4945226" cy="5909310"/>
          </a:xfrm>
          <a:prstGeom prst="rect">
            <a:avLst/>
          </a:prstGeom>
          <a:noFill/>
        </p:spPr>
        <p:txBody>
          <a:bodyPr wrap="square" rtlCol="0">
            <a:spAutoFit/>
          </a:bodyPr>
          <a:lstStyle/>
          <a:p>
            <a:pPr algn="ctr"/>
            <a:r>
              <a:rPr lang="en-US" sz="2400" b="1" dirty="0">
                <a:latin typeface="Cambria Math" panose="02040503050406030204" pitchFamily="18" charset="0"/>
                <a:ea typeface="Cambria Math" panose="02040503050406030204" pitchFamily="18" charset="0"/>
              </a:rPr>
              <a:t>DATA VISUALIZATION</a:t>
            </a:r>
          </a:p>
          <a:p>
            <a:pPr algn="just"/>
            <a:endParaRPr lang="en-US" dirty="0">
              <a:latin typeface="Cambria Math" panose="02040503050406030204" pitchFamily="18" charset="0"/>
              <a:ea typeface="Cambria Math" panose="02040503050406030204" pitchFamily="18" charset="0"/>
            </a:endParaRPr>
          </a:p>
          <a:p>
            <a:pPr algn="just">
              <a:lnSpc>
                <a:spcPct val="150000"/>
              </a:lnSpc>
            </a:pPr>
            <a:r>
              <a:rPr lang="en-US" sz="2000" dirty="0">
                <a:latin typeface="Cambria Math" panose="02040503050406030204" pitchFamily="18" charset="0"/>
                <a:ea typeface="Cambria Math" panose="02040503050406030204" pitchFamily="18" charset="0"/>
              </a:rPr>
              <a:t>After Cleaning the dataset, the next step is Data visualization, which helps in understanding the relationships between various factors like car company, price, Distance Driven and Fuel type.</a:t>
            </a:r>
          </a:p>
          <a:p>
            <a:pPr algn="just">
              <a:lnSpc>
                <a:spcPct val="150000"/>
              </a:lnSpc>
            </a:pPr>
            <a:r>
              <a:rPr lang="en-US" sz="2000" dirty="0">
                <a:latin typeface="Cambria Math" panose="02040503050406030204" pitchFamily="18" charset="0"/>
                <a:ea typeface="Cambria Math" panose="02040503050406030204" pitchFamily="18" charset="0"/>
              </a:rPr>
              <a:t>Tools Used: Power BI</a:t>
            </a:r>
          </a:p>
          <a:p>
            <a:pPr marL="342900" indent="-34290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For creating interactive and dynamic dashboards that allow users to filter data and explore trends across different car companies, fuel types, and etc.  </a:t>
            </a:r>
          </a:p>
          <a:p>
            <a:pPr algn="just"/>
            <a:endParaRPr lang="en-US" dirty="0">
              <a:latin typeface="Cambria Math" panose="02040503050406030204" pitchFamily="18" charset="0"/>
              <a:ea typeface="Cambria Math" panose="02040503050406030204" pitchFamily="18" charset="0"/>
            </a:endParaRPr>
          </a:p>
          <a:p>
            <a:endParaRPr lang="en-IN" dirty="0"/>
          </a:p>
        </p:txBody>
      </p:sp>
    </p:spTree>
    <p:extLst>
      <p:ext uri="{BB962C8B-B14F-4D97-AF65-F5344CB8AC3E}">
        <p14:creationId xmlns:p14="http://schemas.microsoft.com/office/powerpoint/2010/main" val="2070151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CA20C0-CD73-4924-FE9B-EA68BF7BC296}"/>
              </a:ext>
            </a:extLst>
          </p:cNvPr>
          <p:cNvPicPr>
            <a:picLocks noChangeAspect="1"/>
          </p:cNvPicPr>
          <p:nvPr/>
        </p:nvPicPr>
        <p:blipFill>
          <a:blip r:embed="rId2"/>
          <a:stretch>
            <a:fillRect/>
          </a:stretch>
        </p:blipFill>
        <p:spPr>
          <a:xfrm>
            <a:off x="1586101" y="153955"/>
            <a:ext cx="8155058" cy="6550089"/>
          </a:xfrm>
          <a:prstGeom prst="rect">
            <a:avLst/>
          </a:prstGeom>
        </p:spPr>
      </p:pic>
    </p:spTree>
    <p:extLst>
      <p:ext uri="{BB962C8B-B14F-4D97-AF65-F5344CB8AC3E}">
        <p14:creationId xmlns:p14="http://schemas.microsoft.com/office/powerpoint/2010/main" val="2858416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F1F05F-4B63-44A3-CC95-EF12D313B056}"/>
              </a:ext>
            </a:extLst>
          </p:cNvPr>
          <p:cNvPicPr>
            <a:picLocks noChangeAspect="1"/>
          </p:cNvPicPr>
          <p:nvPr/>
        </p:nvPicPr>
        <p:blipFill>
          <a:blip r:embed="rId2"/>
          <a:stretch>
            <a:fillRect/>
          </a:stretch>
        </p:blipFill>
        <p:spPr>
          <a:xfrm>
            <a:off x="1165651" y="1342128"/>
            <a:ext cx="9860697" cy="5181449"/>
          </a:xfrm>
          <a:prstGeom prst="rect">
            <a:avLst/>
          </a:prstGeom>
        </p:spPr>
      </p:pic>
    </p:spTree>
    <p:extLst>
      <p:ext uri="{BB962C8B-B14F-4D97-AF65-F5344CB8AC3E}">
        <p14:creationId xmlns:p14="http://schemas.microsoft.com/office/powerpoint/2010/main" val="1924031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16E4F9-4DC5-66E2-C5B6-D1AFD7EBEEA1}"/>
              </a:ext>
            </a:extLst>
          </p:cNvPr>
          <p:cNvSpPr txBox="1"/>
          <p:nvPr/>
        </p:nvSpPr>
        <p:spPr>
          <a:xfrm>
            <a:off x="3842657" y="429208"/>
            <a:ext cx="4506686" cy="707886"/>
          </a:xfrm>
          <a:prstGeom prst="rect">
            <a:avLst/>
          </a:prstGeom>
          <a:noFill/>
        </p:spPr>
        <p:txBody>
          <a:bodyPr wrap="square" rtlCol="0">
            <a:spAutoFit/>
          </a:bodyPr>
          <a:lstStyle/>
          <a:p>
            <a:pPr algn="ctr"/>
            <a:r>
              <a:rPr lang="en-US" sz="4000" b="1" dirty="0">
                <a:latin typeface="Cambria Math" panose="02040503050406030204" pitchFamily="18" charset="0"/>
                <a:ea typeface="Cambria Math" panose="02040503050406030204" pitchFamily="18" charset="0"/>
              </a:rPr>
              <a:t>VISUALIZATIONS</a:t>
            </a:r>
            <a:endParaRPr lang="en-IN" sz="4000" b="1" dirty="0">
              <a:latin typeface="Cambria Math" panose="02040503050406030204" pitchFamily="18" charset="0"/>
              <a:ea typeface="Cambria Math" panose="02040503050406030204" pitchFamily="18" charset="0"/>
            </a:endParaRPr>
          </a:p>
        </p:txBody>
      </p:sp>
      <p:pic>
        <p:nvPicPr>
          <p:cNvPr id="5" name="Picture 4">
            <a:extLst>
              <a:ext uri="{FF2B5EF4-FFF2-40B4-BE49-F238E27FC236}">
                <a16:creationId xmlns:a16="http://schemas.microsoft.com/office/drawing/2014/main" id="{056353FD-1664-B75E-DB04-F33E32A081BE}"/>
              </a:ext>
            </a:extLst>
          </p:cNvPr>
          <p:cNvPicPr>
            <a:picLocks noChangeAspect="1"/>
          </p:cNvPicPr>
          <p:nvPr/>
        </p:nvPicPr>
        <p:blipFill>
          <a:blip r:embed="rId2"/>
          <a:stretch>
            <a:fillRect/>
          </a:stretch>
        </p:blipFill>
        <p:spPr>
          <a:xfrm>
            <a:off x="549448" y="2019560"/>
            <a:ext cx="5401429" cy="3229426"/>
          </a:xfrm>
          <a:prstGeom prst="rect">
            <a:avLst/>
          </a:prstGeom>
        </p:spPr>
      </p:pic>
      <p:pic>
        <p:nvPicPr>
          <p:cNvPr id="7" name="Picture 6">
            <a:extLst>
              <a:ext uri="{FF2B5EF4-FFF2-40B4-BE49-F238E27FC236}">
                <a16:creationId xmlns:a16="http://schemas.microsoft.com/office/drawing/2014/main" id="{C237FA53-308F-528D-E64B-163DA724929B}"/>
              </a:ext>
            </a:extLst>
          </p:cNvPr>
          <p:cNvPicPr>
            <a:picLocks noChangeAspect="1"/>
          </p:cNvPicPr>
          <p:nvPr/>
        </p:nvPicPr>
        <p:blipFill>
          <a:blip r:embed="rId3"/>
          <a:stretch>
            <a:fillRect/>
          </a:stretch>
        </p:blipFill>
        <p:spPr>
          <a:xfrm>
            <a:off x="6253566" y="2019560"/>
            <a:ext cx="5638841" cy="3229426"/>
          </a:xfrm>
          <a:prstGeom prst="rect">
            <a:avLst/>
          </a:prstGeom>
        </p:spPr>
      </p:pic>
    </p:spTree>
    <p:extLst>
      <p:ext uri="{BB962C8B-B14F-4D97-AF65-F5344CB8AC3E}">
        <p14:creationId xmlns:p14="http://schemas.microsoft.com/office/powerpoint/2010/main" val="2972478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3E175C-63CB-5485-B726-0B333C635450}"/>
              </a:ext>
            </a:extLst>
          </p:cNvPr>
          <p:cNvPicPr>
            <a:picLocks noChangeAspect="1"/>
          </p:cNvPicPr>
          <p:nvPr/>
        </p:nvPicPr>
        <p:blipFill>
          <a:blip r:embed="rId2"/>
          <a:stretch>
            <a:fillRect/>
          </a:stretch>
        </p:blipFill>
        <p:spPr>
          <a:xfrm>
            <a:off x="455293" y="1947656"/>
            <a:ext cx="5268059" cy="3102966"/>
          </a:xfrm>
          <a:prstGeom prst="rect">
            <a:avLst/>
          </a:prstGeom>
        </p:spPr>
      </p:pic>
      <p:pic>
        <p:nvPicPr>
          <p:cNvPr id="6" name="Picture 5">
            <a:extLst>
              <a:ext uri="{FF2B5EF4-FFF2-40B4-BE49-F238E27FC236}">
                <a16:creationId xmlns:a16="http://schemas.microsoft.com/office/drawing/2014/main" id="{C8683751-955A-7128-4C8B-E10D3B181FEC}"/>
              </a:ext>
            </a:extLst>
          </p:cNvPr>
          <p:cNvPicPr>
            <a:picLocks noChangeAspect="1"/>
          </p:cNvPicPr>
          <p:nvPr/>
        </p:nvPicPr>
        <p:blipFill>
          <a:blip r:embed="rId3"/>
          <a:stretch>
            <a:fillRect/>
          </a:stretch>
        </p:blipFill>
        <p:spPr>
          <a:xfrm>
            <a:off x="6223831" y="1947656"/>
            <a:ext cx="5719800" cy="3102966"/>
          </a:xfrm>
          <a:prstGeom prst="rect">
            <a:avLst/>
          </a:prstGeom>
        </p:spPr>
      </p:pic>
    </p:spTree>
    <p:extLst>
      <p:ext uri="{BB962C8B-B14F-4D97-AF65-F5344CB8AC3E}">
        <p14:creationId xmlns:p14="http://schemas.microsoft.com/office/powerpoint/2010/main" val="1656688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A3E43B-D67D-9CDE-689B-89C1E450C547}"/>
              </a:ext>
            </a:extLst>
          </p:cNvPr>
          <p:cNvPicPr>
            <a:picLocks noChangeAspect="1"/>
          </p:cNvPicPr>
          <p:nvPr/>
        </p:nvPicPr>
        <p:blipFill>
          <a:blip r:embed="rId2"/>
          <a:stretch>
            <a:fillRect/>
          </a:stretch>
        </p:blipFill>
        <p:spPr>
          <a:xfrm>
            <a:off x="2718209" y="1436915"/>
            <a:ext cx="7076882" cy="3719419"/>
          </a:xfrm>
          <a:prstGeom prst="rect">
            <a:avLst/>
          </a:prstGeom>
        </p:spPr>
      </p:pic>
    </p:spTree>
    <p:extLst>
      <p:ext uri="{BB962C8B-B14F-4D97-AF65-F5344CB8AC3E}">
        <p14:creationId xmlns:p14="http://schemas.microsoft.com/office/powerpoint/2010/main" val="1877936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5819B9-BBB2-E667-9A18-1545C5B81996}"/>
              </a:ext>
            </a:extLst>
          </p:cNvPr>
          <p:cNvSpPr txBox="1"/>
          <p:nvPr/>
        </p:nvSpPr>
        <p:spPr>
          <a:xfrm>
            <a:off x="2834640" y="446624"/>
            <a:ext cx="6522720" cy="707886"/>
          </a:xfrm>
          <a:prstGeom prst="rect">
            <a:avLst/>
          </a:prstGeom>
          <a:noFill/>
        </p:spPr>
        <p:txBody>
          <a:bodyPr wrap="square" rtlCol="0">
            <a:spAutoFit/>
          </a:bodyPr>
          <a:lstStyle/>
          <a:p>
            <a:pPr algn="ctr"/>
            <a:r>
              <a:rPr lang="en-US" sz="4000" b="1" dirty="0">
                <a:solidFill>
                  <a:schemeClr val="accent6">
                    <a:lumMod val="20000"/>
                    <a:lumOff val="80000"/>
                  </a:schemeClr>
                </a:solidFill>
                <a:latin typeface="Cambria Math" panose="02040503050406030204" pitchFamily="18" charset="0"/>
                <a:ea typeface="Cambria Math" panose="02040503050406030204" pitchFamily="18" charset="0"/>
              </a:rPr>
              <a:t>CHALLENGES FACED </a:t>
            </a:r>
            <a:endParaRPr lang="en-IN" sz="4000" b="1" dirty="0">
              <a:solidFill>
                <a:schemeClr val="accent6">
                  <a:lumMod val="20000"/>
                  <a:lumOff val="80000"/>
                </a:schemeClr>
              </a:solidFill>
              <a:latin typeface="Cambria Math" panose="02040503050406030204" pitchFamily="18" charset="0"/>
              <a:ea typeface="Cambria Math" panose="02040503050406030204" pitchFamily="18" charset="0"/>
            </a:endParaRPr>
          </a:p>
        </p:txBody>
      </p:sp>
      <p:sp>
        <p:nvSpPr>
          <p:cNvPr id="7" name="TextBox 6">
            <a:extLst>
              <a:ext uri="{FF2B5EF4-FFF2-40B4-BE49-F238E27FC236}">
                <a16:creationId xmlns:a16="http://schemas.microsoft.com/office/drawing/2014/main" id="{6EE715B6-09A5-02B3-24EB-D71FA33D69DC}"/>
              </a:ext>
            </a:extLst>
          </p:cNvPr>
          <p:cNvSpPr txBox="1"/>
          <p:nvPr/>
        </p:nvSpPr>
        <p:spPr>
          <a:xfrm>
            <a:off x="1007290" y="1386547"/>
            <a:ext cx="10133461" cy="3728585"/>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Initially, Data extraction using BeautifulSoup was unsuccessful due to the dynamic nature of the website and JavaScript-rendered content. To overcome this limitation, Selenium was used to automate browser interactions and successfully fetch the required data. </a:t>
            </a:r>
          </a:p>
          <a:p>
            <a:pPr algn="just">
              <a:lnSpc>
                <a:spcPct val="150000"/>
              </a:lnSpc>
            </a:pPr>
            <a:endParaRPr lang="en-US" sz="2000" dirty="0">
              <a:latin typeface="Cambria Math" panose="02040503050406030204" pitchFamily="18" charset="0"/>
              <a:ea typeface="Cambria Math" panose="02040503050406030204" pitchFamily="18" charset="0"/>
            </a:endParaRPr>
          </a:p>
          <a:p>
            <a:pPr marL="342900" indent="-34290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The dataset contained missing values, inconsistent data formats (such as price, distance driven, and EMI), and incorrect or unrealistic entries. These issues were overcome by performing data cleaning techniques including handling missing values, standardizing units and formats</a:t>
            </a:r>
          </a:p>
        </p:txBody>
      </p:sp>
    </p:spTree>
    <p:extLst>
      <p:ext uri="{BB962C8B-B14F-4D97-AF65-F5344CB8AC3E}">
        <p14:creationId xmlns:p14="http://schemas.microsoft.com/office/powerpoint/2010/main" val="2249630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B2D64-1514-8ED9-CCFD-B9956F440B4D}"/>
              </a:ext>
            </a:extLst>
          </p:cNvPr>
          <p:cNvSpPr txBox="1"/>
          <p:nvPr/>
        </p:nvSpPr>
        <p:spPr>
          <a:xfrm>
            <a:off x="3185160" y="480360"/>
            <a:ext cx="5821680" cy="707886"/>
          </a:xfrm>
          <a:prstGeom prst="rect">
            <a:avLst/>
          </a:prstGeom>
          <a:noFill/>
        </p:spPr>
        <p:txBody>
          <a:bodyPr wrap="square" rtlCol="0">
            <a:spAutoFit/>
          </a:bodyPr>
          <a:lstStyle/>
          <a:p>
            <a:pPr algn="ctr"/>
            <a:r>
              <a:rPr lang="en-US" sz="4000" b="1" dirty="0">
                <a:solidFill>
                  <a:schemeClr val="accent6">
                    <a:lumMod val="20000"/>
                    <a:lumOff val="80000"/>
                  </a:schemeClr>
                </a:solidFill>
                <a:latin typeface="Cambria Math" panose="02040503050406030204" pitchFamily="18" charset="0"/>
                <a:ea typeface="Cambria Math" panose="02040503050406030204" pitchFamily="18" charset="0"/>
              </a:rPr>
              <a:t>CONCLUSION</a:t>
            </a:r>
            <a:endParaRPr lang="en-IN" sz="4000" b="1" dirty="0">
              <a:solidFill>
                <a:schemeClr val="accent6">
                  <a:lumMod val="20000"/>
                  <a:lumOff val="80000"/>
                </a:schemeClr>
              </a:solidFill>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C73BEA89-EA5F-7E86-E9EA-0FCAD8CA6411}"/>
              </a:ext>
            </a:extLst>
          </p:cNvPr>
          <p:cNvSpPr txBox="1"/>
          <p:nvPr/>
        </p:nvSpPr>
        <p:spPr>
          <a:xfrm>
            <a:off x="843280" y="1727200"/>
            <a:ext cx="10288140" cy="465044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This analysis shows that car price is mainly influenced by company, vehicle age, and usage, with clear depreciation as car age and distance driven increase. </a:t>
            </a:r>
          </a:p>
          <a:p>
            <a:pPr marL="342900" indent="-34290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Petrol cars dominate the market and most used cars fall in the mid-price and mid-age segments. </a:t>
            </a:r>
          </a:p>
          <a:p>
            <a:pPr marL="342900" indent="-34290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By understanding factors such as company, car age, usage, and customer demand, sellers can price vehicles more accurately. </a:t>
            </a:r>
          </a:p>
          <a:p>
            <a:pPr marL="342900" indent="-342900" algn="just">
              <a:lnSpc>
                <a:spcPct val="150000"/>
              </a:lnSpc>
              <a:buFont typeface="Wingdings" panose="05000000000000000000" pitchFamily="2" charset="2"/>
              <a:buChar char="Ø"/>
            </a:pPr>
            <a:r>
              <a:rPr lang="en-US" sz="2000" dirty="0">
                <a:latin typeface="Cambria Math" panose="02040503050406030204" pitchFamily="18" charset="0"/>
                <a:ea typeface="Cambria Math" panose="02040503050406030204" pitchFamily="18" charset="0"/>
              </a:rPr>
              <a:t>These insights help improve sales planning, meet customer expectations, and stay competitive in the used car market. </a:t>
            </a:r>
            <a:endParaRPr lang="en-US" sz="2000" dirty="0">
              <a:solidFill>
                <a:schemeClr val="accent6">
                  <a:lumMod val="20000"/>
                  <a:lumOff val="80000"/>
                </a:schemeClr>
              </a:solidFill>
              <a:latin typeface="Cambria Math" panose="02040503050406030204" pitchFamily="18" charset="0"/>
              <a:ea typeface="Cambria Math" panose="02040503050406030204" pitchFamily="18" charset="0"/>
            </a:endParaRPr>
          </a:p>
          <a:p>
            <a:pPr>
              <a:lnSpc>
                <a:spcPct val="150000"/>
              </a:lnSpc>
            </a:pPr>
            <a:endParaRPr lang="en-US" sz="2000" dirty="0">
              <a:solidFill>
                <a:schemeClr val="accent6">
                  <a:lumMod val="20000"/>
                  <a:lumOff val="80000"/>
                </a:schemeClr>
              </a:solidFill>
            </a:endParaRPr>
          </a:p>
          <a:p>
            <a:pPr>
              <a:lnSpc>
                <a:spcPct val="150000"/>
              </a:lnSpc>
            </a:pPr>
            <a:endParaRPr lang="en-IN" sz="2000" dirty="0">
              <a:solidFill>
                <a:schemeClr val="accent6">
                  <a:lumMod val="20000"/>
                  <a:lumOff val="80000"/>
                </a:schemeClr>
              </a:solidFill>
            </a:endParaRPr>
          </a:p>
        </p:txBody>
      </p:sp>
    </p:spTree>
    <p:extLst>
      <p:ext uri="{BB962C8B-B14F-4D97-AF65-F5344CB8AC3E}">
        <p14:creationId xmlns:p14="http://schemas.microsoft.com/office/powerpoint/2010/main" val="10118534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118</TotalTime>
  <Words>569</Words>
  <Application>Microsoft Office PowerPoint</Application>
  <PresentationFormat>Widescreen</PresentationFormat>
  <Paragraphs>41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Agency FB</vt:lpstr>
      <vt:lpstr>Cambria Math</vt:lpstr>
      <vt:lpstr>Century Gothic</vt:lpstr>
      <vt:lpstr>Wingdings</vt:lpstr>
      <vt:lpstr>Wingdings 3</vt:lpstr>
      <vt:lpstr>Ion</vt:lpstr>
      <vt:lpstr>USED CARS PRICE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Tedlapu Abhinav</dc:creator>
  <cp:lastModifiedBy>Tedlapu Abhinav</cp:lastModifiedBy>
  <cp:revision>2</cp:revision>
  <dcterms:created xsi:type="dcterms:W3CDTF">2026-01-10T15:36:58Z</dcterms:created>
  <dcterms:modified xsi:type="dcterms:W3CDTF">2026-02-06T12:44:29Z</dcterms:modified>
</cp:coreProperties>
</file>